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021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tentativo de 13 palabras, dentro del máximo de 15 que exige la guía de la UNI.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de flujo metodológico (una de las 1 o 2 figuras que recomienda la guía).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Sustentar la brecha con estadísticas peruanas (INEI, PRODUCE, SUNEDU) antes de afirmar el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Buscar 4 a 6 autores clave (2020–2025), nacionales e internacionales. Confirmar los marcos con la revisión sistemática.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H0: no existe relación significativa entre capacidades digitales y emprendimiento tecnológico. La guía UNI admite 3 a 4 objetivos específicos como máximo.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tamaños de muestra son propuestos y deben calcularse con el marco muestral real. Justificar el enfoque mixto.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se adaptan escalas de otros autores, solicitar autorización. Consentimiento informado para encuestas y entrevistas.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 = emprendimiento tecnológico; CD = capacidades digitales. Modelo lineal simple como ejemplo; el modelo completo se estima con PLS-SEM.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Completar los espacios ___ con los resultados reales del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Coherencia entre problema, objetivo e hipótesis. La guía pide un objetivo general y 3 a 4 específicos como máximo.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DOCTORADO EN ADMINISTRACIÓN · MENCIÓN EN TECNOLOGÍA · UNI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digitales y emprendimiento tecnológico en el Altiplano peruano: análisis de emprendedores universitarios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Araseli Flores Turpo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349240" y="4114800"/>
            <a:ext cx="365760" cy="365760"/>
          </a:xfrm>
          <a:prstGeom prst="ellipse">
            <a:avLst/>
          </a:prstGeom>
          <a:solidFill>
            <a:srgbClr val="1B555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492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24728" y="4114800"/>
            <a:ext cx="365760" cy="365760"/>
          </a:xfrm>
          <a:prstGeom prst="ellipse">
            <a:avLst/>
          </a:prstGeom>
          <a:solidFill>
            <a:srgbClr val="1B555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0216" y="4114800"/>
            <a:ext cx="365760" cy="365760"/>
          </a:xfrm>
          <a:prstGeom prst="ellipse">
            <a:avLst/>
          </a:prstGeom>
          <a:solidFill>
            <a:srgbClr val="1B555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75704" y="4114800"/>
            <a:ext cx="365760" cy="365760"/>
          </a:xfrm>
          <a:prstGeom prst="ellipse">
            <a:avLst/>
          </a:prstGeom>
          <a:solidFill>
            <a:srgbClr val="1B555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51192" y="4114800"/>
            <a:ext cx="365760" cy="365760"/>
          </a:xfrm>
          <a:prstGeom prst="ellipse">
            <a:avLst/>
          </a:prstGeom>
          <a:solidFill>
            <a:srgbClr val="1B555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26680" y="4114800"/>
            <a:ext cx="365760" cy="365760"/>
          </a:xfrm>
          <a:prstGeom prst="ellipse">
            <a:avLst/>
          </a:prstGeom>
          <a:solidFill>
            <a:srgbClr val="1B5557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02168" y="4114800"/>
            <a:ext cx="365760" cy="3657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de la investigación aplicada al 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problema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756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de capacidades digitales en emprendedores universitarios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18872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9748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la teoría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0756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digitales y emprendimiento tecnológico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18872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hipótesis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0756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Capacidades digitales → + emprendimiento tecnológico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05156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18872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645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el método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207568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 explicativo secuencial; Puno y Juliaca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92608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06324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9436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Recolectar datos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950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a estudiantes y egresados; entrevistas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292608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697480" y="306324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974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69748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resultados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697480" y="3950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Correlación, regresión y PLS-SEM; análisis temático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926080"/>
            <a:ext cx="19202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063240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0060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3950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doctoral y artículos indexados</a:t>
            </a:r>
            <a:endParaRPr lang="en-US" sz="1100" dirty="0"/>
          </a:p>
        </p:txBody>
      </p:sp>
      <p:pic>
        <p:nvPicPr>
          <p:cNvPr id="40" name="Image 0" descr="Cic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154680"/>
            <a:ext cx="182880" cy="18288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6903720" y="3520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cíclico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6903720" y="3950208"/>
            <a:ext cx="1645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preguntas: efecto de la IA y estudio longitudinal.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698" y="-11798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el problema</a:t>
            </a:r>
            <a:endParaRPr lang="en-US" sz="2800" dirty="0"/>
          </a:p>
        </p:txBody>
      </p:sp>
      <p:pic>
        <p:nvPicPr>
          <p:cNvPr id="9" name="Image 0" descr="Identificar el problem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51206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3749040" y="5212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749040" y="813816"/>
            <a:ext cx="4754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presume un limitado desarrollo de capacidades digitales en los emprendedores universitarios del Altiplano, lo que restringiría la creación y sostenibilidad de emprendimientos tecnológicos.</a:t>
            </a:r>
            <a:endParaRPr lang="en-US" sz="1250" dirty="0"/>
          </a:p>
        </p:txBody>
      </p:sp>
      <p:sp>
        <p:nvSpPr>
          <p:cNvPr id="28" name="Text 24"/>
          <p:cNvSpPr txBox="1"/>
          <p:nvPr/>
        </p:nvSpPr>
        <p:spPr>
          <a:xfrm>
            <a:off x="3749040" y="14904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Sustentar la brecha con estadísticas de INEI, PRODUCE y SUNEDU.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566160" y="1920240"/>
            <a:ext cx="512064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3749040" y="2029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3749040" y="232257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relacionan las capacidades digitales con el emprendimiento tecnológico en emprendedores universitarios del Altiplano peruano?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3566160" y="3063240"/>
            <a:ext cx="5120640" cy="100584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3749040" y="3172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34" name="Text 30"/>
          <p:cNvSpPr txBox="1"/>
          <p:nvPr/>
        </p:nvSpPr>
        <p:spPr>
          <a:xfrm>
            <a:off x="3749040" y="346557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Determinar la relación entre las capacidades digitales y el emprendimiento tecnológico en emprendedores universitarios del Altiplano peruano.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la teoría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dimensiones y estado del arte</a:t>
            </a:r>
            <a:endParaRPr lang="en-US" sz="1400" dirty="0"/>
          </a:p>
        </p:txBody>
      </p:sp>
      <p:pic>
        <p:nvPicPr>
          <p:cNvPr id="9" name="Image 0" descr="Revisar la teorí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24688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3749040" y="521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1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749040" y="795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digitales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3749040" y="1197864"/>
            <a:ext cx="21031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información y datos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marketing digital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y herramientas de gestión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217920" y="411480"/>
            <a:ext cx="2468880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6"/>
          <p:cNvSpPr txBox="1"/>
          <p:nvPr/>
        </p:nvSpPr>
        <p:spPr>
          <a:xfrm>
            <a:off x="6400800" y="521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2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6400800" y="7955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Emprendimiento tecnológico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1197864"/>
            <a:ext cx="2103120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Intención emprendedora tecnológica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emprendimientos de base tecnológica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adopción de tecnologías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3566160" y="2880360"/>
            <a:ext cx="5120640" cy="128016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749040" y="299008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REVISAR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3749040" y="3282696"/>
            <a:ext cx="4754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de competencias: DigComp y EntreComp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Bases: Scopus, Web of Science, SciELO y RENATI (2020–2025)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autores clave, nacionales e internacionales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 hipótesis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general y específicas</a:t>
            </a:r>
            <a:endParaRPr lang="en-US" sz="1400" dirty="0"/>
          </a:p>
        </p:txBody>
      </p:sp>
      <p:pic>
        <p:nvPicPr>
          <p:cNvPr id="9" name="Image 0" descr="Formular hipótes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5120640" cy="9144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3794760" y="4114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Capacidades digitales  →  + emprendimiento tecnológico</a:t>
            </a:r>
            <a:endParaRPr lang="en-US" sz="1900" dirty="0"/>
          </a:p>
        </p:txBody>
      </p:sp>
      <p:sp>
        <p:nvSpPr>
          <p:cNvPr id="27" name="Shape 23"/>
          <p:cNvSpPr/>
          <p:nvPr/>
        </p:nvSpPr>
        <p:spPr>
          <a:xfrm>
            <a:off x="3566160" y="1463040"/>
            <a:ext cx="5120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3749040" y="15727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GENERAL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3749040" y="1865376"/>
            <a:ext cx="4754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relación positiva y significativa entre las capacidades digitales y el emprendimiento tecnológico en emprendedores universitarios del Altiplano peruano.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3566160" y="2697480"/>
            <a:ext cx="1615440" cy="146304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749040" y="2807208"/>
            <a:ext cx="124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32" name="Text 28"/>
          <p:cNvSpPr txBox="1"/>
          <p:nvPr/>
        </p:nvSpPr>
        <p:spPr>
          <a:xfrm>
            <a:off x="3749040" y="3099816"/>
            <a:ext cx="124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información y datos se relaciona positivamente con el emprendimiento tecnológico.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318760" y="2697480"/>
            <a:ext cx="1615440" cy="146304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501640" y="2807208"/>
            <a:ext cx="124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501640" y="3099816"/>
            <a:ext cx="124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comunicación y el marketing digital se relacionan positivamente con el emprendimiento tecnológico.</a:t>
            </a:r>
            <a:endParaRPr lang="en-US" sz="1100" dirty="0"/>
          </a:p>
        </p:txBody>
      </p:sp>
      <p:sp>
        <p:nvSpPr>
          <p:cNvPr id="36" name="Shape 32"/>
          <p:cNvSpPr/>
          <p:nvPr/>
        </p:nvSpPr>
        <p:spPr>
          <a:xfrm>
            <a:off x="7071360" y="2697480"/>
            <a:ext cx="1615440" cy="146304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7254240" y="2807208"/>
            <a:ext cx="124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38" name="Text 34"/>
          <p:cNvSpPr txBox="1"/>
          <p:nvPr/>
        </p:nvSpPr>
        <p:spPr>
          <a:xfrm>
            <a:off x="7254240" y="3099816"/>
            <a:ext cx="12496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IA y herramientas de gestión se relaciona positivamente con el emprendimiento tecnológico.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Diseñar el método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Enfoque, muestra e instrumentos</a:t>
            </a:r>
            <a:endParaRPr lang="en-US" sz="1400" dirty="0"/>
          </a:p>
        </p:txBody>
      </p:sp>
      <p:pic>
        <p:nvPicPr>
          <p:cNvPr id="9" name="Image 0" descr="Diseñar el métod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3749040" y="521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Y DISEÑO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749040" y="813816"/>
            <a:ext cx="21031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Mixto explicativo secuencial: primero encuesta (cuantitativo) y luego entrevistas (cualitativo).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217920" y="41148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6400800" y="52120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Y MUESTRA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6400800" y="813816"/>
            <a:ext cx="21031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y egresados con emprendimiento activo en Puno y Juliaca. Muestra aprox.: 250–300 encuestas y 10–12 entrevistas.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566160" y="2331720"/>
            <a:ext cx="2468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3749040" y="24414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3749040" y="2734056"/>
            <a:ext cx="210312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Likert validado por juicio de expertos y guía de entrevista semiestructurada.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Recolectar datos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validados y permisos</a:t>
            </a:r>
            <a:endParaRPr lang="en-US" sz="1400" dirty="0"/>
          </a:p>
        </p:txBody>
      </p:sp>
      <p:pic>
        <p:nvPicPr>
          <p:cNvPr id="9" name="Image 0" descr="Recolectar dat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749040" y="557784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749040" y="557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4297680" y="41148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instrumentos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Juicio de expertos y prueba piloto (alfa de Cronbach).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3566160" y="118872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749040" y="1335024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749040" y="1335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4297680" y="11887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la encuesta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 presencial y virtual a la muestra.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3566160" y="196596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3749040" y="2112264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749040" y="2112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4297680" y="196596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entrevistas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Semiestructuradas, a emprendedores seleccionados.</a:t>
            </a:r>
            <a:endParaRPr lang="en-US" sz="1250" dirty="0"/>
          </a:p>
        </p:txBody>
      </p:sp>
      <p:sp>
        <p:nvSpPr>
          <p:cNvPr id="37" name="Shape 33"/>
          <p:cNvSpPr/>
          <p:nvPr/>
        </p:nvSpPr>
        <p:spPr>
          <a:xfrm>
            <a:off x="3566160" y="274320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3749040" y="2889504"/>
            <a:ext cx="365760" cy="36576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749040" y="2889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40" name="Text 36"/>
          <p:cNvSpPr txBox="1"/>
          <p:nvPr/>
        </p:nvSpPr>
        <p:spPr>
          <a:xfrm>
            <a:off x="4297680" y="274320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los datos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depurada y transcripciones codificadas.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3566160" y="3520440"/>
            <a:ext cx="5120640" cy="77724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749040" y="36301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AUTOR Y PERMISOS</a:t>
            </a:r>
            <a:endParaRPr lang="en-US" sz="1100" dirty="0"/>
          </a:p>
        </p:txBody>
      </p:sp>
      <p:sp>
        <p:nvSpPr>
          <p:cNvPr id="43" name="Text 39"/>
          <p:cNvSpPr txBox="1"/>
          <p:nvPr/>
        </p:nvSpPr>
        <p:spPr>
          <a:xfrm>
            <a:off x="3749040" y="3922776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de autores de escalas adaptadas y de las universidades; consentimiento informado.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 resultados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Modelo, contraste e integración</a:t>
            </a:r>
            <a:endParaRPr lang="en-US" sz="1400" dirty="0"/>
          </a:p>
        </p:txBody>
      </p:sp>
      <p:pic>
        <p:nvPicPr>
          <p:cNvPr id="9" name="Image 0" descr="Analizar resultad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9C9C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5120640" cy="11430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3794760" y="457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= a · CD + b ,  a &gt; 0</a:t>
            </a:r>
            <a:endParaRPr lang="en-US" sz="2600" dirty="0"/>
          </a:p>
        </p:txBody>
      </p:sp>
      <p:sp>
        <p:nvSpPr>
          <p:cNvPr id="27" name="Text 23"/>
          <p:cNvSpPr txBox="1"/>
          <p:nvPr/>
        </p:nvSpPr>
        <p:spPr>
          <a:xfrm>
            <a:off x="3794760" y="10972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ET: emprendimiento tecnológico · CD: capacidades digitales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3566160" y="1691640"/>
            <a:ext cx="2468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3749040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CUANTITATIVO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3749040" y="2093976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Descriptivos y confiabilidad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y regresión (R²)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PLS-SEM del modelo completo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217920" y="1691640"/>
            <a:ext cx="24688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6400800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CUALITATIVO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6400800" y="2093976"/>
            <a:ext cx="21031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y análisis temático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Barreras y facilitadores digitales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3566160" y="3383280"/>
            <a:ext cx="5120640" cy="73152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3749040" y="34930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3749040" y="37856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Triangulación: las entrevistas explican los resultados estadísticos.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572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 DE 7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46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Tesis, artículos y aporte</a:t>
            </a:r>
            <a:endParaRPr lang="en-US" sz="1400" dirty="0"/>
          </a:p>
        </p:txBody>
      </p:sp>
      <p:pic>
        <p:nvPicPr>
          <p:cNvPr id="9" name="Image 0" descr="Comuni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062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661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776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38912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38912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0060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0060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21208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21208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623560" y="4434840"/>
            <a:ext cx="274320" cy="274320"/>
          </a:xfrm>
          <a:prstGeom prst="ellipse">
            <a:avLst/>
          </a:prstGeom>
          <a:solidFill>
            <a:srgbClr val="0F3D3E"/>
          </a:solidFill>
          <a:ln w="12700">
            <a:solidFill>
              <a:srgbClr val="0F3D3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2356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4434840"/>
            <a:ext cx="274320" cy="27432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4434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3566160" y="411480"/>
            <a:ext cx="1615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2"/>
          <p:cNvSpPr txBox="1"/>
          <p:nvPr/>
        </p:nvSpPr>
        <p:spPr>
          <a:xfrm>
            <a:off x="3749040" y="521208"/>
            <a:ext cx="124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3749040" y="813816"/>
            <a:ext cx="1249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final y sustentación.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5318760" y="411480"/>
            <a:ext cx="1615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5501640" y="521208"/>
            <a:ext cx="124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5501640" y="813816"/>
            <a:ext cx="1249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 3 en revistas Scopus, WoS o SciELO.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7071360" y="411480"/>
            <a:ext cx="1615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 txBox="1"/>
          <p:nvPr/>
        </p:nvSpPr>
        <p:spPr>
          <a:xfrm>
            <a:off x="7254240" y="521208"/>
            <a:ext cx="1249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DIFUSIÓN</a:t>
            </a:r>
            <a:endParaRPr lang="en-US" sz="1100" dirty="0"/>
          </a:p>
        </p:txBody>
      </p:sp>
      <p:sp>
        <p:nvSpPr>
          <p:cNvPr id="33" name="Text 29"/>
          <p:cNvSpPr txBox="1"/>
          <p:nvPr/>
        </p:nvSpPr>
        <p:spPr>
          <a:xfrm>
            <a:off x="7254240" y="813816"/>
            <a:ext cx="1249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Congresos y devolución a las universidades.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3566160" y="1920240"/>
            <a:ext cx="512064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8E7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1"/>
          <p:cNvSpPr txBox="1"/>
          <p:nvPr/>
        </p:nvSpPr>
        <p:spPr>
          <a:xfrm>
            <a:off x="3749040" y="2029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ESPERADO</a:t>
            </a:r>
            <a:endParaRPr lang="en-US" sz="1100" dirty="0"/>
          </a:p>
        </p:txBody>
      </p:sp>
      <p:sp>
        <p:nvSpPr>
          <p:cNvPr id="36" name="Text 32"/>
          <p:cNvSpPr txBox="1"/>
          <p:nvPr/>
        </p:nvSpPr>
        <p:spPr>
          <a:xfrm>
            <a:off x="3749040" y="232257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validada de capacidades digitales para emprendedores del Altiplano y recomendaciones para las políticas universitarias de emprendimiento.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3566160" y="2971800"/>
            <a:ext cx="5120640" cy="1143000"/>
          </a:xfrm>
          <a:prstGeom prst="rect">
            <a:avLst/>
          </a:prstGeom>
          <a:solidFill>
            <a:srgbClr val="FCEBD6"/>
          </a:solidFill>
          <a:ln w="9525">
            <a:solidFill>
              <a:srgbClr val="F3D3AA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3749040" y="30815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A5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ESPERADA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3749040" y="3374136"/>
            <a:ext cx="4754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data recolectada se comprobó que las capacidades digitales explican ___% de la variación del emprendimiento tecnológico (R² = ___ ; p &lt; ___).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3D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coherencia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0632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¿Cómo se relacionan las capacidades digitales con el emprendimiento tecnológico en emprendedores universitarios del Altiplano peruano?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Determinar la relación entre las capacidades digitales y el emprendimiento tecnológico en emprendedores universitarios del Altiplano peruano.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 relación positiva y significativa entre las capacidades digitales y el emprendimiento tecnológico en emprendedores universitarios.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Específico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relación existe entre la gestión de información y datos y el emprendimiento tecnológico?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Establecer la relación entre la gestión de información y datos y el emprendimiento tecnológico.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gestión de información y datos se relaciona positivamente con el emprendimiento tecnológico.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Específico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relación existe entre la comunicación y marketing digital y el emprendimiento tecnológico?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Establecer la relación entre la comunicación y marketing digital y el emprendimiento tecnológico.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comunicación y el marketing digital se relaciona positivamente con el emprendimiento tecnológico.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9A541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Específico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relación existe entre el uso de IA y herramientas de gestión y el emprendimiento tecnológico?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Establecer la relación entre el uso de IA y herramientas de gestión y el emprendimiento tecnológico.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uso de IA y herramientas de gestión se relaciona positivamente con el emprendimiento tecnológico.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cíclico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resultados abren nuevas preguntas: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cambia la relación con el uso de IA generativa?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¿Se sostiene en un estudio longitudinal?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¿Difiere en otras regiones del Perú?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2080" y="1051560"/>
            <a:ext cx="3017520" cy="3017520"/>
          </a:xfrm>
          <a:prstGeom prst="ellipse">
            <a:avLst/>
          </a:prstGeom>
          <a:ln w="19050">
            <a:solidFill>
              <a:srgbClr val="3E757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55664" y="786384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55664" y="7863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35260" y="1354448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35260" y="135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926596" y="2630875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26596" y="2630875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110290" y="365449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10290" y="365449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801038" y="3654490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01038" y="365449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984732" y="2630875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4732" y="2630875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76068" y="1354448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896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76068" y="13544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3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309360" y="2148840"/>
            <a:ext cx="822960" cy="822960"/>
          </a:xfrm>
          <a:prstGeom prst="ellipse">
            <a:avLst/>
          </a:prstGeom>
          <a:solidFill>
            <a:srgbClr val="E8963A"/>
          </a:solidFill>
          <a:ln w="12700">
            <a:solidFill>
              <a:srgbClr val="E8963A"/>
            </a:solidFill>
            <a:prstDash val="solid"/>
          </a:ln>
        </p:spPr>
      </p:sp>
      <p:pic>
        <p:nvPicPr>
          <p:cNvPr id="21" name="Image 0" descr="Cic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340864"/>
            <a:ext cx="438912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1177</Words>
  <Application>Microsoft Office PowerPoint</Application>
  <PresentationFormat>Presentación en pantalla (16:9)</PresentationFormat>
  <Paragraphs>227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Capacidades digitales y emprendimiento tecnológico: 7 etapas de la investigación</dc:title>
  <dc:subject>PptxGenJS Presentation</dc:subject>
  <dc:creator>PptxGenJS</dc:creator>
  <cp:lastModifiedBy>HP</cp:lastModifiedBy>
  <cp:revision>2</cp:revision>
  <dcterms:created xsi:type="dcterms:W3CDTF">2026-09-19T22:01:27Z</dcterms:created>
  <dcterms:modified xsi:type="dcterms:W3CDTF">2026-09-20T14:45:48Z</dcterms:modified>
</cp:coreProperties>
</file>